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63" r:id="rId6"/>
    <p:sldId id="283" r:id="rId7"/>
    <p:sldId id="285" r:id="rId8"/>
    <p:sldId id="284" r:id="rId9"/>
    <p:sldId id="286" r:id="rId10"/>
    <p:sldId id="287" r:id="rId11"/>
    <p:sldId id="288" r:id="rId12"/>
    <p:sldId id="289" r:id="rId13"/>
    <p:sldId id="290" r:id="rId14"/>
    <p:sldId id="26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6E1"/>
    <a:srgbClr val="2A428D"/>
    <a:srgbClr val="263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228" y="864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text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D279-13C2-47B7-97FB-F8E7CCA9F9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E4C2D-8B68-445C-AE43-384C9DAECB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0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4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17" r="4587" b="4065"/>
          <a:stretch>
            <a:fillRect/>
          </a:stretch>
        </p:blipFill>
        <p:spPr>
          <a:xfrm rot="5400000">
            <a:off x="2506183" y="-2544285"/>
            <a:ext cx="7141531" cy="1223010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08704" y="2313009"/>
            <a:ext cx="8800465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altLang="zh-CN" sz="6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Web bán đồ gia dụng</a:t>
            </a:r>
            <a:endParaRPr lang="en-US" sz="6600" b="1" dirty="0" smtClea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362200" y="3410639"/>
            <a:ext cx="7545957" cy="0"/>
          </a:xfrm>
          <a:prstGeom prst="line">
            <a:avLst/>
          </a:prstGeom>
          <a:ln>
            <a:solidFill>
              <a:srgbClr val="7BB6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5"/>
          <p:cNvSpPr txBox="1"/>
          <p:nvPr/>
        </p:nvSpPr>
        <p:spPr>
          <a:xfrm>
            <a:off x="4829810" y="4260215"/>
            <a:ext cx="2811780" cy="17532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/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Nhóm 06</a:t>
            </a: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/>
            </a:pP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/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Nguyễn Trần Dinh</a:t>
            </a: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/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Bùi Chí Huy</a:t>
            </a: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/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Võ Thành Long Huy</a:t>
            </a: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>
              <a:defRPr/>
            </a:pPr>
            <a:r>
              <a:rPr lang="en-US" altLang="zh-CN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Lê Thái Minh</a:t>
            </a: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8213" r="4587" b="58075"/>
          <a:stretch>
            <a:fillRect/>
          </a:stretch>
        </p:blipFill>
        <p:spPr>
          <a:xfrm rot="5400000">
            <a:off x="-354860" y="1975811"/>
            <a:ext cx="6857999" cy="2906376"/>
          </a:xfrm>
          <a:custGeom>
            <a:avLst/>
            <a:gdLst>
              <a:gd name="connsiteX0" fmla="*/ 0 w 7141531"/>
              <a:gd name="connsiteY0" fmla="*/ 3026535 h 3026535"/>
              <a:gd name="connsiteX1" fmla="*/ 0 w 7141531"/>
              <a:gd name="connsiteY1" fmla="*/ 0 h 3026535"/>
              <a:gd name="connsiteX2" fmla="*/ 7141531 w 7141531"/>
              <a:gd name="connsiteY2" fmla="*/ 0 h 3026535"/>
              <a:gd name="connsiteX3" fmla="*/ 7141531 w 7141531"/>
              <a:gd name="connsiteY3" fmla="*/ 3026535 h 302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3026535">
                <a:moveTo>
                  <a:pt x="0" y="3026535"/>
                </a:moveTo>
                <a:lnTo>
                  <a:pt x="0" y="0"/>
                </a:lnTo>
                <a:lnTo>
                  <a:pt x="7141531" y="0"/>
                </a:lnTo>
                <a:lnTo>
                  <a:pt x="7141531" y="3026535"/>
                </a:lnTo>
                <a:close/>
              </a:path>
            </a:pathLst>
          </a:custGeom>
        </p:spPr>
      </p:pic>
      <p:sp>
        <p:nvSpPr>
          <p:cNvPr id="6" name="MH_Others_1"/>
          <p:cNvSpPr txBox="1"/>
          <p:nvPr>
            <p:custDataLst>
              <p:tags r:id="rId2"/>
            </p:custDataLst>
          </p:nvPr>
        </p:nvSpPr>
        <p:spPr>
          <a:xfrm>
            <a:off x="2032047" y="2955025"/>
            <a:ext cx="2083440" cy="5232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dist">
              <a:defRPr/>
            </a:pPr>
            <a:r>
              <a:rPr lang="en-US" altLang="zh-CN" sz="2400" spc="400" dirty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Lục</a:t>
            </a:r>
            <a:endParaRPr lang="zh-CN" altLang="en-US" sz="2400" spc="400" dirty="0">
              <a:solidFill>
                <a:srgbClr val="7BB6E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MH_Number_1"/>
          <p:cNvSpPr/>
          <p:nvPr>
            <p:custDataLst>
              <p:tags r:id="rId3"/>
            </p:custDataLst>
          </p:nvPr>
        </p:nvSpPr>
        <p:spPr>
          <a:xfrm>
            <a:off x="6188976" y="1931729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MH_Entry_1"/>
          <p:cNvSpPr/>
          <p:nvPr>
            <p:custDataLst>
              <p:tags r:id="rId4"/>
            </p:custDataLst>
          </p:nvPr>
        </p:nvSpPr>
        <p:spPr>
          <a:xfrm>
            <a:off x="6859526" y="1931729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/>
          </a:bodyPr>
          <a:lstStyle/>
          <a:p>
            <a:pPr algn="ctr"/>
            <a:r>
              <a:rPr lang="en-US" altLang="zh-CN" sz="2400" spc="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Đích Phát triển Website</a:t>
            </a:r>
            <a:endParaRPr lang="en-US" altLang="zh-CN" sz="2400" spc="2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MH_Entry_2"/>
          <p:cNvSpPr/>
          <p:nvPr>
            <p:custDataLst>
              <p:tags r:id="rId5"/>
            </p:custDataLst>
          </p:nvPr>
        </p:nvSpPr>
        <p:spPr>
          <a:xfrm>
            <a:off x="6859526" y="2761330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16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Đ</a:t>
            </a:r>
            <a:r>
              <a:rPr lang="en-US" altLang="en-US" sz="16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ối t</a:t>
            </a:r>
            <a:r>
              <a:rPr lang="en-US" altLang="en-US" sz="16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ư</a:t>
            </a:r>
            <a:r>
              <a:rPr lang="en-US" altLang="en-US" sz="16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ợng khách hàng mục tiêu</a:t>
            </a:r>
            <a:endParaRPr lang="en-US" altLang="en-US" sz="16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MH_Number_2"/>
          <p:cNvSpPr/>
          <p:nvPr>
            <p:custDataLst>
              <p:tags r:id="rId6"/>
            </p:custDataLst>
          </p:nvPr>
        </p:nvSpPr>
        <p:spPr>
          <a:xfrm>
            <a:off x="6188976" y="2761330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MH_Number_1"/>
          <p:cNvSpPr/>
          <p:nvPr>
            <p:custDataLst>
              <p:tags r:id="rId7"/>
            </p:custDataLst>
          </p:nvPr>
        </p:nvSpPr>
        <p:spPr>
          <a:xfrm>
            <a:off x="6188976" y="3590931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MH_Entry_1"/>
          <p:cNvSpPr/>
          <p:nvPr>
            <p:custDataLst>
              <p:tags r:id="rId8"/>
            </p:custDataLst>
          </p:nvPr>
        </p:nvSpPr>
        <p:spPr>
          <a:xfrm>
            <a:off x="6859526" y="3590931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lstStyle/>
          <a:p>
            <a:pPr algn="ctr"/>
            <a:r>
              <a:rPr lang="en-US" altLang="en-US" sz="24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Các công cụ sử dụng phát triển </a:t>
            </a:r>
            <a:endParaRPr lang="en-US" altLang="en-US" sz="24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MH_Entry_2"/>
          <p:cNvSpPr/>
          <p:nvPr>
            <p:custDataLst>
              <p:tags r:id="rId9"/>
            </p:custDataLst>
          </p:nvPr>
        </p:nvSpPr>
        <p:spPr>
          <a:xfrm>
            <a:off x="6859526" y="4420532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MH_Number_2"/>
          <p:cNvSpPr/>
          <p:nvPr>
            <p:custDataLst>
              <p:tags r:id="rId10"/>
            </p:custDataLst>
          </p:nvPr>
        </p:nvSpPr>
        <p:spPr>
          <a:xfrm>
            <a:off x="6188976" y="4420532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2171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 rot="16200000">
            <a:off x="2099259" y="1841680"/>
            <a:ext cx="1904274" cy="2750717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2304625" y="1007538"/>
            <a:ext cx="245451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287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MH_Entry_1"/>
          <p:cNvSpPr/>
          <p:nvPr>
            <p:custDataLst>
              <p:tags r:id="rId2"/>
            </p:custDataLst>
          </p:nvPr>
        </p:nvSpPr>
        <p:spPr>
          <a:xfrm>
            <a:off x="5602025" y="242477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lstStyle/>
          <a:p>
            <a:pPr algn="ctr"/>
            <a:r>
              <a:rPr lang="en-US" altLang="zh-CN" sz="36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Mục Đích Phát triển Website</a:t>
            </a:r>
            <a:endParaRPr lang="zh-CN" altLang="en-US" sz="36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49"/>
          <p:cNvSpPr/>
          <p:nvPr/>
        </p:nvSpPr>
        <p:spPr>
          <a:xfrm>
            <a:off x="0" y="0"/>
            <a:ext cx="12192000" cy="6857365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2" name="任意多边形 44"/>
          <p:cNvSpPr/>
          <p:nvPr/>
        </p:nvSpPr>
        <p:spPr bwMode="auto">
          <a:xfrm>
            <a:off x="6515206" y="125782"/>
            <a:ext cx="955675" cy="990600"/>
          </a:xfrm>
          <a:custGeom>
            <a:avLst/>
            <a:gdLst>
              <a:gd name="T0" fmla="*/ 516215 w 956752"/>
              <a:gd name="T1" fmla="*/ 952455 h 990261"/>
              <a:gd name="T2" fmla="*/ 516215 w 956752"/>
              <a:gd name="T3" fmla="*/ 990600 h 990261"/>
              <a:gd name="T4" fmla="*/ 433978 w 956752"/>
              <a:gd name="T5" fmla="*/ 971527 h 990261"/>
              <a:gd name="T6" fmla="*/ 409513 w 956752"/>
              <a:gd name="T7" fmla="*/ 896972 h 990261"/>
              <a:gd name="T8" fmla="*/ 562095 w 956752"/>
              <a:gd name="T9" fmla="*/ 916623 h 990261"/>
              <a:gd name="T10" fmla="*/ 409513 w 956752"/>
              <a:gd name="T11" fmla="*/ 936272 h 990261"/>
              <a:gd name="T12" fmla="*/ 409513 w 956752"/>
              <a:gd name="T13" fmla="*/ 896972 h 990261"/>
              <a:gd name="T14" fmla="*/ 570707 w 956752"/>
              <a:gd name="T15" fmla="*/ 844957 h 990261"/>
              <a:gd name="T16" fmla="*/ 570707 w 956752"/>
              <a:gd name="T17" fmla="*/ 884258 h 990261"/>
              <a:gd name="T18" fmla="*/ 371651 w 956752"/>
              <a:gd name="T19" fmla="*/ 864608 h 990261"/>
              <a:gd name="T20" fmla="*/ 390739 w 956752"/>
              <a:gd name="T21" fmla="*/ 794098 h 990261"/>
              <a:gd name="T22" fmla="*/ 589794 w 956752"/>
              <a:gd name="T23" fmla="*/ 813170 h 990261"/>
              <a:gd name="T24" fmla="*/ 390739 w 956752"/>
              <a:gd name="T25" fmla="*/ 832243 h 990261"/>
              <a:gd name="T26" fmla="*/ 390739 w 956752"/>
              <a:gd name="T27" fmla="*/ 794098 h 990261"/>
              <a:gd name="T28" fmla="*/ 289887 w 956752"/>
              <a:gd name="T29" fmla="*/ 678998 h 990261"/>
              <a:gd name="T30" fmla="*/ 191476 w 956752"/>
              <a:gd name="T31" fmla="*/ 820605 h 990261"/>
              <a:gd name="T32" fmla="*/ 155938 w 956752"/>
              <a:gd name="T33" fmla="*/ 785204 h 990261"/>
              <a:gd name="T34" fmla="*/ 273485 w 956752"/>
              <a:gd name="T35" fmla="*/ 670488 h 990261"/>
              <a:gd name="T36" fmla="*/ 695981 w 956752"/>
              <a:gd name="T37" fmla="*/ 676275 h 990261"/>
              <a:gd name="T38" fmla="*/ 794665 w 956752"/>
              <a:gd name="T39" fmla="*/ 820605 h 990261"/>
              <a:gd name="T40" fmla="*/ 660345 w 956752"/>
              <a:gd name="T41" fmla="*/ 708954 h 990261"/>
              <a:gd name="T42" fmla="*/ 680562 w 956752"/>
              <a:gd name="T43" fmla="*/ 670148 h 990261"/>
              <a:gd name="T44" fmla="*/ 933827 w 956752"/>
              <a:gd name="T45" fmla="*/ 478540 h 990261"/>
              <a:gd name="T46" fmla="*/ 933827 w 956752"/>
              <a:gd name="T47" fmla="*/ 528244 h 990261"/>
              <a:gd name="T48" fmla="*/ 761770 w 956752"/>
              <a:gd name="T49" fmla="*/ 503391 h 990261"/>
              <a:gd name="T50" fmla="*/ 21848 w 956752"/>
              <a:gd name="T51" fmla="*/ 478540 h 990261"/>
              <a:gd name="T52" fmla="*/ 193905 w 956752"/>
              <a:gd name="T53" fmla="*/ 503391 h 990261"/>
              <a:gd name="T54" fmla="*/ 21848 w 956752"/>
              <a:gd name="T55" fmla="*/ 528244 h 990261"/>
              <a:gd name="T56" fmla="*/ 21848 w 956752"/>
              <a:gd name="T57" fmla="*/ 478540 h 990261"/>
              <a:gd name="T58" fmla="*/ 717911 w 956752"/>
              <a:gd name="T59" fmla="*/ 476043 h 990261"/>
              <a:gd name="T60" fmla="*/ 589775 w 956752"/>
              <a:gd name="T61" fmla="*/ 768668 h 990261"/>
              <a:gd name="T62" fmla="*/ 371672 w 956752"/>
              <a:gd name="T63" fmla="*/ 689359 h 990261"/>
              <a:gd name="T64" fmla="*/ 480723 w 956752"/>
              <a:gd name="T65" fmla="*/ 238113 h 990261"/>
              <a:gd name="T66" fmla="*/ 832814 w 956752"/>
              <a:gd name="T67" fmla="*/ 150784 h 990261"/>
              <a:gd name="T68" fmla="*/ 729214 w 956752"/>
              <a:gd name="T69" fmla="*/ 290029 h 990261"/>
              <a:gd name="T70" fmla="*/ 693772 w 956752"/>
              <a:gd name="T71" fmla="*/ 254535 h 990261"/>
              <a:gd name="T72" fmla="*/ 815434 w 956752"/>
              <a:gd name="T73" fmla="*/ 142252 h 990261"/>
              <a:gd name="T74" fmla="*/ 163658 w 956752"/>
              <a:gd name="T75" fmla="*/ 148054 h 990261"/>
              <a:gd name="T76" fmla="*/ 267258 w 956752"/>
              <a:gd name="T77" fmla="*/ 287298 h 990261"/>
              <a:gd name="T78" fmla="*/ 128216 w 956752"/>
              <a:gd name="T79" fmla="*/ 183548 h 990261"/>
              <a:gd name="T80" fmla="*/ 147300 w 956752"/>
              <a:gd name="T81" fmla="*/ 142252 h 990261"/>
              <a:gd name="T82" fmla="*/ 505539 w 956752"/>
              <a:gd name="T83" fmla="*/ 21880 h 990261"/>
              <a:gd name="T84" fmla="*/ 478203 w 956752"/>
              <a:gd name="T85" fmla="*/ 194189 h 990261"/>
              <a:gd name="T86" fmla="*/ 453600 w 956752"/>
              <a:gd name="T87" fmla="*/ 21880 h 9902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956752" h="990261">
                <a:moveTo>
                  <a:pt x="442700" y="952129"/>
                </a:moveTo>
                <a:cubicBezTo>
                  <a:pt x="516797" y="952129"/>
                  <a:pt x="516797" y="952129"/>
                  <a:pt x="516797" y="952129"/>
                </a:cubicBezTo>
                <a:cubicBezTo>
                  <a:pt x="519541" y="952129"/>
                  <a:pt x="522285" y="960300"/>
                  <a:pt x="522285" y="971195"/>
                </a:cubicBezTo>
                <a:cubicBezTo>
                  <a:pt x="522285" y="979366"/>
                  <a:pt x="519541" y="990261"/>
                  <a:pt x="516797" y="990261"/>
                </a:cubicBezTo>
                <a:cubicBezTo>
                  <a:pt x="442700" y="990261"/>
                  <a:pt x="442700" y="990261"/>
                  <a:pt x="442700" y="990261"/>
                </a:cubicBezTo>
                <a:cubicBezTo>
                  <a:pt x="439956" y="990261"/>
                  <a:pt x="434467" y="979366"/>
                  <a:pt x="434467" y="971195"/>
                </a:cubicBezTo>
                <a:cubicBezTo>
                  <a:pt x="434467" y="960300"/>
                  <a:pt x="439956" y="952129"/>
                  <a:pt x="442700" y="952129"/>
                </a:cubicBezTo>
                <a:close/>
                <a:moveTo>
                  <a:pt x="409975" y="896665"/>
                </a:moveTo>
                <a:cubicBezTo>
                  <a:pt x="549090" y="896665"/>
                  <a:pt x="549090" y="896665"/>
                  <a:pt x="549090" y="896665"/>
                </a:cubicBezTo>
                <a:cubicBezTo>
                  <a:pt x="557273" y="896665"/>
                  <a:pt x="562728" y="905084"/>
                  <a:pt x="562728" y="916309"/>
                </a:cubicBezTo>
                <a:cubicBezTo>
                  <a:pt x="562728" y="927533"/>
                  <a:pt x="557273" y="935952"/>
                  <a:pt x="549090" y="935952"/>
                </a:cubicBezTo>
                <a:cubicBezTo>
                  <a:pt x="409975" y="935952"/>
                  <a:pt x="409975" y="935952"/>
                  <a:pt x="409975" y="935952"/>
                </a:cubicBezTo>
                <a:cubicBezTo>
                  <a:pt x="401792" y="935952"/>
                  <a:pt x="396336" y="927533"/>
                  <a:pt x="396336" y="916309"/>
                </a:cubicBezTo>
                <a:cubicBezTo>
                  <a:pt x="396336" y="905084"/>
                  <a:pt x="401792" y="896665"/>
                  <a:pt x="409975" y="896665"/>
                </a:cubicBezTo>
                <a:close/>
                <a:moveTo>
                  <a:pt x="391179" y="844668"/>
                </a:moveTo>
                <a:cubicBezTo>
                  <a:pt x="571350" y="844668"/>
                  <a:pt x="571350" y="844668"/>
                  <a:pt x="571350" y="844668"/>
                </a:cubicBezTo>
                <a:cubicBezTo>
                  <a:pt x="582270" y="844668"/>
                  <a:pt x="590459" y="853087"/>
                  <a:pt x="590459" y="864312"/>
                </a:cubicBezTo>
                <a:cubicBezTo>
                  <a:pt x="590459" y="875536"/>
                  <a:pt x="582270" y="883955"/>
                  <a:pt x="571350" y="883955"/>
                </a:cubicBezTo>
                <a:cubicBezTo>
                  <a:pt x="391179" y="883955"/>
                  <a:pt x="391179" y="883955"/>
                  <a:pt x="391179" y="883955"/>
                </a:cubicBezTo>
                <a:cubicBezTo>
                  <a:pt x="380260" y="883955"/>
                  <a:pt x="372070" y="875536"/>
                  <a:pt x="372070" y="864312"/>
                </a:cubicBezTo>
                <a:cubicBezTo>
                  <a:pt x="372070" y="853087"/>
                  <a:pt x="380260" y="844668"/>
                  <a:pt x="391179" y="844668"/>
                </a:cubicBezTo>
                <a:close/>
                <a:moveTo>
                  <a:pt x="391179" y="793826"/>
                </a:moveTo>
                <a:cubicBezTo>
                  <a:pt x="571350" y="793826"/>
                  <a:pt x="571350" y="793826"/>
                  <a:pt x="571350" y="793826"/>
                </a:cubicBezTo>
                <a:cubicBezTo>
                  <a:pt x="582270" y="793826"/>
                  <a:pt x="590459" y="801997"/>
                  <a:pt x="590459" y="812892"/>
                </a:cubicBezTo>
                <a:cubicBezTo>
                  <a:pt x="590459" y="823787"/>
                  <a:pt x="582270" y="831958"/>
                  <a:pt x="571350" y="831958"/>
                </a:cubicBezTo>
                <a:cubicBezTo>
                  <a:pt x="391179" y="831958"/>
                  <a:pt x="391179" y="831958"/>
                  <a:pt x="391179" y="831958"/>
                </a:cubicBezTo>
                <a:cubicBezTo>
                  <a:pt x="380260" y="831958"/>
                  <a:pt x="372070" y="823787"/>
                  <a:pt x="372070" y="812892"/>
                </a:cubicBezTo>
                <a:cubicBezTo>
                  <a:pt x="372070" y="801997"/>
                  <a:pt x="380260" y="793826"/>
                  <a:pt x="391179" y="793826"/>
                </a:cubicBezTo>
                <a:close/>
                <a:moveTo>
                  <a:pt x="273793" y="670259"/>
                </a:moveTo>
                <a:cubicBezTo>
                  <a:pt x="279951" y="670599"/>
                  <a:pt x="286109" y="673322"/>
                  <a:pt x="290214" y="678766"/>
                </a:cubicBezTo>
                <a:cubicBezTo>
                  <a:pt x="301161" y="686933"/>
                  <a:pt x="303897" y="700544"/>
                  <a:pt x="295687" y="711433"/>
                </a:cubicBezTo>
                <a:lnTo>
                  <a:pt x="191692" y="820324"/>
                </a:lnTo>
                <a:cubicBezTo>
                  <a:pt x="183482" y="828491"/>
                  <a:pt x="167061" y="828491"/>
                  <a:pt x="158851" y="817602"/>
                </a:cubicBezTo>
                <a:cubicBezTo>
                  <a:pt x="147904" y="809435"/>
                  <a:pt x="147904" y="793102"/>
                  <a:pt x="156114" y="784935"/>
                </a:cubicBezTo>
                <a:cubicBezTo>
                  <a:pt x="257373" y="676044"/>
                  <a:pt x="257373" y="676044"/>
                  <a:pt x="257373" y="676044"/>
                </a:cubicBezTo>
                <a:cubicBezTo>
                  <a:pt x="261478" y="671960"/>
                  <a:pt x="267636" y="669919"/>
                  <a:pt x="273793" y="670259"/>
                </a:cubicBezTo>
                <a:close/>
                <a:moveTo>
                  <a:pt x="681329" y="669919"/>
                </a:moveTo>
                <a:cubicBezTo>
                  <a:pt x="687160" y="669919"/>
                  <a:pt x="692649" y="671961"/>
                  <a:pt x="696765" y="676044"/>
                </a:cubicBezTo>
                <a:lnTo>
                  <a:pt x="798305" y="784935"/>
                </a:lnTo>
                <a:cubicBezTo>
                  <a:pt x="806538" y="795824"/>
                  <a:pt x="806538" y="809435"/>
                  <a:pt x="795561" y="820324"/>
                </a:cubicBezTo>
                <a:cubicBezTo>
                  <a:pt x="784584" y="828491"/>
                  <a:pt x="770862" y="828491"/>
                  <a:pt x="762629" y="820324"/>
                </a:cubicBezTo>
                <a:cubicBezTo>
                  <a:pt x="661089" y="708711"/>
                  <a:pt x="661089" y="708711"/>
                  <a:pt x="661089" y="708711"/>
                </a:cubicBezTo>
                <a:cubicBezTo>
                  <a:pt x="652856" y="700544"/>
                  <a:pt x="652856" y="686933"/>
                  <a:pt x="663834" y="676044"/>
                </a:cubicBezTo>
                <a:cubicBezTo>
                  <a:pt x="669322" y="671961"/>
                  <a:pt x="675497" y="669919"/>
                  <a:pt x="681329" y="669919"/>
                </a:cubicBezTo>
                <a:close/>
                <a:moveTo>
                  <a:pt x="784501" y="478376"/>
                </a:moveTo>
                <a:cubicBezTo>
                  <a:pt x="934879" y="478376"/>
                  <a:pt x="934879" y="478376"/>
                  <a:pt x="934879" y="478376"/>
                </a:cubicBezTo>
                <a:cubicBezTo>
                  <a:pt x="948550" y="478376"/>
                  <a:pt x="956752" y="489417"/>
                  <a:pt x="956752" y="503219"/>
                </a:cubicBezTo>
                <a:cubicBezTo>
                  <a:pt x="956752" y="517021"/>
                  <a:pt x="948550" y="528063"/>
                  <a:pt x="934879" y="528063"/>
                </a:cubicBezTo>
                <a:lnTo>
                  <a:pt x="784501" y="528063"/>
                </a:lnTo>
                <a:cubicBezTo>
                  <a:pt x="773565" y="528063"/>
                  <a:pt x="762628" y="517021"/>
                  <a:pt x="762628" y="503219"/>
                </a:cubicBezTo>
                <a:cubicBezTo>
                  <a:pt x="762628" y="489417"/>
                  <a:pt x="773565" y="478376"/>
                  <a:pt x="784501" y="478376"/>
                </a:cubicBezTo>
                <a:close/>
                <a:moveTo>
                  <a:pt x="21873" y="478376"/>
                </a:moveTo>
                <a:lnTo>
                  <a:pt x="172251" y="478376"/>
                </a:lnTo>
                <a:cubicBezTo>
                  <a:pt x="185922" y="478376"/>
                  <a:pt x="194124" y="489417"/>
                  <a:pt x="194124" y="503219"/>
                </a:cubicBezTo>
                <a:cubicBezTo>
                  <a:pt x="194124" y="517021"/>
                  <a:pt x="185922" y="528063"/>
                  <a:pt x="172251" y="528063"/>
                </a:cubicBezTo>
                <a:cubicBezTo>
                  <a:pt x="21873" y="528063"/>
                  <a:pt x="21873" y="528063"/>
                  <a:pt x="21873" y="528063"/>
                </a:cubicBezTo>
                <a:cubicBezTo>
                  <a:pt x="10936" y="528063"/>
                  <a:pt x="0" y="517021"/>
                  <a:pt x="0" y="503219"/>
                </a:cubicBezTo>
                <a:cubicBezTo>
                  <a:pt x="0" y="489417"/>
                  <a:pt x="10936" y="478376"/>
                  <a:pt x="21873" y="478376"/>
                </a:cubicBezTo>
                <a:close/>
                <a:moveTo>
                  <a:pt x="481265" y="238032"/>
                </a:moveTo>
                <a:cubicBezTo>
                  <a:pt x="612275" y="238032"/>
                  <a:pt x="718720" y="344653"/>
                  <a:pt x="718720" y="475880"/>
                </a:cubicBezTo>
                <a:cubicBezTo>
                  <a:pt x="718720" y="568832"/>
                  <a:pt x="666862" y="648114"/>
                  <a:pt x="590440" y="689123"/>
                </a:cubicBezTo>
                <a:cubicBezTo>
                  <a:pt x="590440" y="689123"/>
                  <a:pt x="590440" y="689123"/>
                  <a:pt x="590440" y="768405"/>
                </a:cubicBezTo>
                <a:cubicBezTo>
                  <a:pt x="590440" y="768405"/>
                  <a:pt x="590440" y="768405"/>
                  <a:pt x="372091" y="768405"/>
                </a:cubicBezTo>
                <a:cubicBezTo>
                  <a:pt x="372091" y="768405"/>
                  <a:pt x="372091" y="768405"/>
                  <a:pt x="372091" y="689123"/>
                </a:cubicBezTo>
                <a:cubicBezTo>
                  <a:pt x="295668" y="648114"/>
                  <a:pt x="243810" y="568832"/>
                  <a:pt x="243810" y="475880"/>
                </a:cubicBezTo>
                <a:cubicBezTo>
                  <a:pt x="243810" y="344653"/>
                  <a:pt x="350256" y="238032"/>
                  <a:pt x="481265" y="238032"/>
                </a:cubicBezTo>
                <a:close/>
                <a:moveTo>
                  <a:pt x="816353" y="142203"/>
                </a:moveTo>
                <a:cubicBezTo>
                  <a:pt x="822153" y="142544"/>
                  <a:pt x="828294" y="145274"/>
                  <a:pt x="833753" y="150732"/>
                </a:cubicBezTo>
                <a:cubicBezTo>
                  <a:pt x="841941" y="158920"/>
                  <a:pt x="844670" y="175297"/>
                  <a:pt x="836482" y="183485"/>
                </a:cubicBezTo>
                <a:lnTo>
                  <a:pt x="730036" y="289930"/>
                </a:lnTo>
                <a:cubicBezTo>
                  <a:pt x="721848" y="298118"/>
                  <a:pt x="705472" y="295389"/>
                  <a:pt x="697284" y="287200"/>
                </a:cubicBezTo>
                <a:cubicBezTo>
                  <a:pt x="686366" y="276283"/>
                  <a:pt x="686366" y="262636"/>
                  <a:pt x="694554" y="254448"/>
                </a:cubicBezTo>
                <a:cubicBezTo>
                  <a:pt x="801000" y="148003"/>
                  <a:pt x="801000" y="148003"/>
                  <a:pt x="801000" y="148003"/>
                </a:cubicBezTo>
                <a:cubicBezTo>
                  <a:pt x="805094" y="143909"/>
                  <a:pt x="810553" y="141862"/>
                  <a:pt x="816353" y="142203"/>
                </a:cubicBezTo>
                <a:close/>
                <a:moveTo>
                  <a:pt x="147466" y="142203"/>
                </a:moveTo>
                <a:cubicBezTo>
                  <a:pt x="153607" y="141862"/>
                  <a:pt x="159748" y="143909"/>
                  <a:pt x="163842" y="148003"/>
                </a:cubicBezTo>
                <a:lnTo>
                  <a:pt x="270288" y="254448"/>
                </a:lnTo>
                <a:cubicBezTo>
                  <a:pt x="278476" y="262636"/>
                  <a:pt x="278476" y="276283"/>
                  <a:pt x="267559" y="287200"/>
                </a:cubicBezTo>
                <a:cubicBezTo>
                  <a:pt x="256641" y="295389"/>
                  <a:pt x="242994" y="298118"/>
                  <a:pt x="234806" y="289930"/>
                </a:cubicBezTo>
                <a:cubicBezTo>
                  <a:pt x="128360" y="183485"/>
                  <a:pt x="128360" y="183485"/>
                  <a:pt x="128360" y="183485"/>
                </a:cubicBezTo>
                <a:cubicBezTo>
                  <a:pt x="120172" y="175297"/>
                  <a:pt x="120172" y="158920"/>
                  <a:pt x="131089" y="150732"/>
                </a:cubicBezTo>
                <a:cubicBezTo>
                  <a:pt x="135183" y="145274"/>
                  <a:pt x="141324" y="142544"/>
                  <a:pt x="147466" y="142203"/>
                </a:cubicBezTo>
                <a:close/>
                <a:moveTo>
                  <a:pt x="478742" y="0"/>
                </a:moveTo>
                <a:cubicBezTo>
                  <a:pt x="495162" y="0"/>
                  <a:pt x="506109" y="10936"/>
                  <a:pt x="506109" y="21873"/>
                </a:cubicBezTo>
                <a:lnTo>
                  <a:pt x="506109" y="172250"/>
                </a:lnTo>
                <a:cubicBezTo>
                  <a:pt x="506109" y="183186"/>
                  <a:pt x="495162" y="194123"/>
                  <a:pt x="478742" y="194123"/>
                </a:cubicBezTo>
                <a:cubicBezTo>
                  <a:pt x="465058" y="194123"/>
                  <a:pt x="454111" y="183186"/>
                  <a:pt x="454111" y="172250"/>
                </a:cubicBezTo>
                <a:cubicBezTo>
                  <a:pt x="454111" y="21873"/>
                  <a:pt x="454111" y="21873"/>
                  <a:pt x="454111" y="21873"/>
                </a:cubicBezTo>
                <a:cubicBezTo>
                  <a:pt x="454111" y="10936"/>
                  <a:pt x="465058" y="0"/>
                  <a:pt x="4787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12592" y="293817"/>
            <a:ext cx="4125720" cy="595108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2420" y="293370"/>
            <a:ext cx="6099810" cy="59563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1: </a:t>
            </a:r>
            <a:r>
              <a:rPr lang="en-US" altLang="zh-CN" sz="2800" spc="2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Mục Đích Phát triển Website</a:t>
            </a:r>
            <a:endParaRPr lang="zh-CN" altLang="en-US" sz="2800" spc="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-635" y="1654175"/>
            <a:ext cx="6336030" cy="5203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thời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ại công nghệ số phát triển mạnh mẽ, nhu cầu mua sắm trực tuyến ngày càng gia t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ng. Ng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ời tiêu dùng ngày càng quan tâm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ến sự tiện lợi, nhanh chóng và tiết kiệm thời gian khi mua sắm. Do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ó, trang web bán hàng gia dụng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 phát triển nhằm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 ứng nhu cầu này, mang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ến một nền tảng th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 mại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iện tử tích hợp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ầy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ủ các tính n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hiện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ại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ể khách hàng có thể dễ dàng tìm kiếm và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ặt mua các sản phẩm gia dụng chất l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cao ngay tại nhà.</a:t>
            </a:r>
            <a:endParaRPr lang="en-US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không chỉ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óng vai trò là kênh bán hàng trực tuyến mà còn là cầu nối giữa ng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ời tiêu dùng và các th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 hiệu gia dụng uy tín. Với giao diện thân thiện và dễ sử dụng, khách hàng có thể dễ dàng truy cập vào các danh mục sản phẩm nh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ồ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iện gia dụng, dụng cụ nhà bếp, thiết bị vệ sinh, 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ồ dùng phòng ngủ và phòng khách.</a:t>
            </a:r>
            <a:endParaRPr lang="en-US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515100" y="1810385"/>
            <a:ext cx="5280025" cy="37325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8213" r="4587" b="58075"/>
          <a:stretch>
            <a:fillRect/>
          </a:stretch>
        </p:blipFill>
        <p:spPr>
          <a:xfrm rot="5400000">
            <a:off x="-354860" y="1975811"/>
            <a:ext cx="6857999" cy="2906376"/>
          </a:xfrm>
          <a:custGeom>
            <a:avLst/>
            <a:gdLst>
              <a:gd name="connsiteX0" fmla="*/ 0 w 7141531"/>
              <a:gd name="connsiteY0" fmla="*/ 3026535 h 3026535"/>
              <a:gd name="connsiteX1" fmla="*/ 0 w 7141531"/>
              <a:gd name="connsiteY1" fmla="*/ 0 h 3026535"/>
              <a:gd name="connsiteX2" fmla="*/ 7141531 w 7141531"/>
              <a:gd name="connsiteY2" fmla="*/ 0 h 3026535"/>
              <a:gd name="connsiteX3" fmla="*/ 7141531 w 7141531"/>
              <a:gd name="connsiteY3" fmla="*/ 3026535 h 302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3026535">
                <a:moveTo>
                  <a:pt x="0" y="3026535"/>
                </a:moveTo>
                <a:lnTo>
                  <a:pt x="0" y="0"/>
                </a:lnTo>
                <a:lnTo>
                  <a:pt x="7141531" y="0"/>
                </a:lnTo>
                <a:lnTo>
                  <a:pt x="7141531" y="3026535"/>
                </a:lnTo>
                <a:close/>
              </a:path>
            </a:pathLst>
          </a:custGeom>
        </p:spPr>
      </p:pic>
      <p:sp>
        <p:nvSpPr>
          <p:cNvPr id="6" name="MH_Others_1"/>
          <p:cNvSpPr txBox="1"/>
          <p:nvPr>
            <p:custDataLst>
              <p:tags r:id="rId2"/>
            </p:custDataLst>
          </p:nvPr>
        </p:nvSpPr>
        <p:spPr>
          <a:xfrm>
            <a:off x="2032047" y="2955025"/>
            <a:ext cx="2083440" cy="5232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dist">
              <a:defRPr/>
            </a:pPr>
            <a:r>
              <a:rPr lang="en-US" altLang="zh-CN" sz="2400" spc="400" dirty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Lục</a:t>
            </a:r>
            <a:endParaRPr lang="zh-CN" altLang="en-US" sz="2400" spc="400" dirty="0">
              <a:solidFill>
                <a:srgbClr val="7BB6E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MH_Number_1"/>
          <p:cNvSpPr/>
          <p:nvPr>
            <p:custDataLst>
              <p:tags r:id="rId3"/>
            </p:custDataLst>
          </p:nvPr>
        </p:nvSpPr>
        <p:spPr>
          <a:xfrm>
            <a:off x="6188976" y="1931729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MH_Entry_1"/>
          <p:cNvSpPr/>
          <p:nvPr>
            <p:custDataLst>
              <p:tags r:id="rId4"/>
            </p:custDataLst>
          </p:nvPr>
        </p:nvSpPr>
        <p:spPr>
          <a:xfrm>
            <a:off x="6859526" y="1931729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Đích Phát triển Website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MH_Entry_2"/>
          <p:cNvSpPr/>
          <p:nvPr>
            <p:custDataLst>
              <p:tags r:id="rId5"/>
            </p:custDataLst>
          </p:nvPr>
        </p:nvSpPr>
        <p:spPr>
          <a:xfrm>
            <a:off x="6859526" y="2761330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1600" spc="20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Đối tượng khách hàng mục tiêu</a:t>
            </a:r>
            <a:endParaRPr lang="en-US" altLang="en-US" sz="1600" spc="20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MH_Number_2"/>
          <p:cNvSpPr/>
          <p:nvPr>
            <p:custDataLst>
              <p:tags r:id="rId6"/>
            </p:custDataLst>
          </p:nvPr>
        </p:nvSpPr>
        <p:spPr>
          <a:xfrm>
            <a:off x="6188976" y="2761330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MH_Number_1"/>
          <p:cNvSpPr/>
          <p:nvPr>
            <p:custDataLst>
              <p:tags r:id="rId7"/>
            </p:custDataLst>
          </p:nvPr>
        </p:nvSpPr>
        <p:spPr>
          <a:xfrm>
            <a:off x="6188976" y="3590931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MH_Entry_1"/>
          <p:cNvSpPr/>
          <p:nvPr>
            <p:custDataLst>
              <p:tags r:id="rId8"/>
            </p:custDataLst>
          </p:nvPr>
        </p:nvSpPr>
        <p:spPr>
          <a:xfrm>
            <a:off x="6859526" y="3590931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lstStyle/>
          <a:p>
            <a:pPr algn="ctr"/>
            <a:r>
              <a:rPr lang="en-US" altLang="en-US" sz="24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Các công cụ sử dụng phát triển </a:t>
            </a:r>
            <a:endParaRPr lang="en-US" altLang="en-US" sz="24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MH_Entry_2"/>
          <p:cNvSpPr/>
          <p:nvPr>
            <p:custDataLst>
              <p:tags r:id="rId9"/>
            </p:custDataLst>
          </p:nvPr>
        </p:nvSpPr>
        <p:spPr>
          <a:xfrm>
            <a:off x="6859526" y="4420532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MH_Number_2"/>
          <p:cNvSpPr/>
          <p:nvPr>
            <p:custDataLst>
              <p:tags r:id="rId10"/>
            </p:custDataLst>
          </p:nvPr>
        </p:nvSpPr>
        <p:spPr>
          <a:xfrm>
            <a:off x="6188976" y="4420532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2171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 rot="16200000">
            <a:off x="2099259" y="1841680"/>
            <a:ext cx="1904274" cy="2750717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2304625" y="1007538"/>
            <a:ext cx="2430780" cy="4507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en-US" altLang="zh-CN" sz="287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MH_Entry_1"/>
          <p:cNvSpPr/>
          <p:nvPr>
            <p:custDataLst>
              <p:tags r:id="rId2"/>
            </p:custDataLst>
          </p:nvPr>
        </p:nvSpPr>
        <p:spPr>
          <a:xfrm>
            <a:off x="5602025" y="242477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20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Đối tượng khách hàng mục tiêu</a:t>
            </a:r>
            <a:endParaRPr lang="en-US" altLang="en-US" sz="20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49"/>
          <p:cNvSpPr/>
          <p:nvPr/>
        </p:nvSpPr>
        <p:spPr>
          <a:xfrm>
            <a:off x="0" y="0"/>
            <a:ext cx="12192000" cy="6857365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12420" y="294005"/>
            <a:ext cx="6807835" cy="594995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6770" y="294005"/>
            <a:ext cx="5603875" cy="59563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2: </a:t>
            </a:r>
            <a:r>
              <a:rPr lang="en-US" altLang="en-US" sz="2800" spc="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Đối tượng khách hàng mục tiêu</a:t>
            </a:r>
            <a:endParaRPr lang="en-US" altLang="en-US" sz="2800" spc="2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255" y="1293495"/>
            <a:ext cx="6336030" cy="556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hộ gia </a:t>
            </a:r>
            <a:r>
              <a:rPr lang="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ình: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ây là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ối t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khách hàng chính, có nhu cầu mua sắm các sản phẩm gia dụng hàng ngày nh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máy xay sinh tố, nồi cơm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iện, lò vi sóng, máy hút bụi, máy lọc không khí, và các dụng cụ bếp khác. Các gia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ình th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 quan tâm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ến các sản phẩm có thiết kế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ẹp mắt, bền bỉ và có khả n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tiết kiệm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iện n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ng.</a:t>
            </a:r>
            <a:endParaRPr lang="en-US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ng</a:t>
            </a:r>
            <a:r>
              <a:rPr lang="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ời nội trợ: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ối t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này th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ờng dành nhiều thời gian cho việc nấu n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ớng, dọn dẹp và ch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sóc nhà cửa. Họ quan tâm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ến các sản phẩm gia dụng thông minh,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chức n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và dễ sử dụng.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ây c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ũ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là nhóm khách hàng có xu 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 tìm kiếm các sản phẩm gia dụng tiện ích nh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máy rửa bát, máy ép trái cây, nồi chiên không dầu, và các dụng cụ bếp cao cấp.</a:t>
            </a:r>
            <a:endParaRPr lang="en-US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doanh nghiệp: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Ngoài khách hàng cá nhân, trang web còn 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 tới các doanh nghiệp và v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phòng cần mua sắm các thiết bị gia dụng phục vụ công việc hàng ngày nh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máy pha cà phê, tủ lạnh mini, máy lọc n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ớc, quạt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iều hòa, v.v.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ây là nhóm khách hàng có nhu cầu mua số l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lớn và </a:t>
            </a:r>
            <a:r>
              <a:rPr lang="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tiên các sản phẩm có chính sách bảo hành tốt.</a:t>
            </a:r>
            <a:endParaRPr lang="en-US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6642100" y="1508760"/>
            <a:ext cx="5394960" cy="38404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8213" r="4587" b="58075"/>
          <a:stretch>
            <a:fillRect/>
          </a:stretch>
        </p:blipFill>
        <p:spPr>
          <a:xfrm rot="5400000">
            <a:off x="-354860" y="1975811"/>
            <a:ext cx="6857999" cy="2906376"/>
          </a:xfrm>
          <a:custGeom>
            <a:avLst/>
            <a:gdLst>
              <a:gd name="connsiteX0" fmla="*/ 0 w 7141531"/>
              <a:gd name="connsiteY0" fmla="*/ 3026535 h 3026535"/>
              <a:gd name="connsiteX1" fmla="*/ 0 w 7141531"/>
              <a:gd name="connsiteY1" fmla="*/ 0 h 3026535"/>
              <a:gd name="connsiteX2" fmla="*/ 7141531 w 7141531"/>
              <a:gd name="connsiteY2" fmla="*/ 0 h 3026535"/>
              <a:gd name="connsiteX3" fmla="*/ 7141531 w 7141531"/>
              <a:gd name="connsiteY3" fmla="*/ 3026535 h 302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3026535">
                <a:moveTo>
                  <a:pt x="0" y="3026535"/>
                </a:moveTo>
                <a:lnTo>
                  <a:pt x="0" y="0"/>
                </a:lnTo>
                <a:lnTo>
                  <a:pt x="7141531" y="0"/>
                </a:lnTo>
                <a:lnTo>
                  <a:pt x="7141531" y="3026535"/>
                </a:lnTo>
                <a:close/>
              </a:path>
            </a:pathLst>
          </a:custGeom>
        </p:spPr>
      </p:pic>
      <p:sp>
        <p:nvSpPr>
          <p:cNvPr id="6" name="MH_Others_1"/>
          <p:cNvSpPr txBox="1"/>
          <p:nvPr>
            <p:custDataLst>
              <p:tags r:id="rId2"/>
            </p:custDataLst>
          </p:nvPr>
        </p:nvSpPr>
        <p:spPr>
          <a:xfrm>
            <a:off x="2032047" y="2955025"/>
            <a:ext cx="2083440" cy="5232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dist">
              <a:defRPr/>
            </a:pPr>
            <a:r>
              <a:rPr lang="en-US" altLang="zh-CN" sz="2400" spc="400" dirty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Lục</a:t>
            </a:r>
            <a:endParaRPr lang="zh-CN" altLang="en-US" sz="2400" spc="400" dirty="0">
              <a:solidFill>
                <a:srgbClr val="7BB6E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MH_Number_1"/>
          <p:cNvSpPr/>
          <p:nvPr>
            <p:custDataLst>
              <p:tags r:id="rId3"/>
            </p:custDataLst>
          </p:nvPr>
        </p:nvSpPr>
        <p:spPr>
          <a:xfrm>
            <a:off x="6188976" y="1931729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MH_Entry_1"/>
          <p:cNvSpPr/>
          <p:nvPr>
            <p:custDataLst>
              <p:tags r:id="rId4"/>
            </p:custDataLst>
          </p:nvPr>
        </p:nvSpPr>
        <p:spPr>
          <a:xfrm>
            <a:off x="6859526" y="1931729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Đích Phát triển Website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MH_Entry_2"/>
          <p:cNvSpPr/>
          <p:nvPr>
            <p:custDataLst>
              <p:tags r:id="rId5"/>
            </p:custDataLst>
          </p:nvPr>
        </p:nvSpPr>
        <p:spPr>
          <a:xfrm>
            <a:off x="6859526" y="2761330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16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Đối tượng khách hàng mục tiêu</a:t>
            </a:r>
            <a:endParaRPr lang="en-US" altLang="en-US" sz="16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MH_Number_2"/>
          <p:cNvSpPr/>
          <p:nvPr>
            <p:custDataLst>
              <p:tags r:id="rId6"/>
            </p:custDataLst>
          </p:nvPr>
        </p:nvSpPr>
        <p:spPr>
          <a:xfrm>
            <a:off x="6188976" y="2761330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MH_Number_1"/>
          <p:cNvSpPr/>
          <p:nvPr>
            <p:custDataLst>
              <p:tags r:id="rId7"/>
            </p:custDataLst>
          </p:nvPr>
        </p:nvSpPr>
        <p:spPr>
          <a:xfrm>
            <a:off x="6188976" y="3590931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MH_Entry_1"/>
          <p:cNvSpPr/>
          <p:nvPr>
            <p:custDataLst>
              <p:tags r:id="rId8"/>
            </p:custDataLst>
          </p:nvPr>
        </p:nvSpPr>
        <p:spPr>
          <a:xfrm>
            <a:off x="6859526" y="3590931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0000"/>
          </a:bodyPr>
          <a:lstStyle/>
          <a:p>
            <a:pPr algn="ctr"/>
            <a:r>
              <a:rPr lang="en-US" altLang="en-US" sz="2400" spc="20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Các công cụ sử dụng phát triển </a:t>
            </a:r>
            <a:endParaRPr lang="en-US" altLang="en-US" sz="2400" spc="20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MH_Entry_2"/>
          <p:cNvSpPr/>
          <p:nvPr>
            <p:custDataLst>
              <p:tags r:id="rId9"/>
            </p:custDataLst>
          </p:nvPr>
        </p:nvSpPr>
        <p:spPr>
          <a:xfrm>
            <a:off x="6859526" y="4420532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MH_Number_2"/>
          <p:cNvSpPr/>
          <p:nvPr>
            <p:custDataLst>
              <p:tags r:id="rId10"/>
            </p:custDataLst>
          </p:nvPr>
        </p:nvSpPr>
        <p:spPr>
          <a:xfrm>
            <a:off x="6188976" y="4420532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2171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 rot="16200000">
            <a:off x="2099259" y="1841680"/>
            <a:ext cx="1904274" cy="2750717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2304625" y="1007538"/>
            <a:ext cx="2430780" cy="4507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en-US" altLang="zh-CN" sz="287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MH_Entry_1"/>
          <p:cNvSpPr/>
          <p:nvPr>
            <p:custDataLst>
              <p:tags r:id="rId2"/>
            </p:custDataLst>
          </p:nvPr>
        </p:nvSpPr>
        <p:spPr>
          <a:xfrm>
            <a:off x="5602025" y="242477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20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Các công cụ sử dụng phát triển </a:t>
            </a:r>
            <a:endParaRPr lang="en-US" altLang="en-US" sz="20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49"/>
          <p:cNvSpPr/>
          <p:nvPr/>
        </p:nvSpPr>
        <p:spPr>
          <a:xfrm>
            <a:off x="0" y="0"/>
            <a:ext cx="12192000" cy="6857365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312420" y="294005"/>
            <a:ext cx="6807835" cy="594995"/>
          </a:xfrm>
          <a:prstGeom prst="rect">
            <a:avLst/>
          </a:prstGeom>
          <a:solidFill>
            <a:schemeClr val="bg1"/>
          </a:solidFill>
          <a:ln w="3175">
            <a:solidFill>
              <a:srgbClr val="7BB6E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26770" y="294005"/>
            <a:ext cx="5603875" cy="595630"/>
          </a:xfrm>
          <a:prstGeom prst="rect">
            <a:avLst/>
          </a:prstGeom>
          <a:solidFill>
            <a:schemeClr val="bg1"/>
          </a:solidFill>
        </p:spPr>
        <p:txBody>
          <a:bodyPr wrap="none">
            <a:noAutofit/>
          </a:bodyPr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3: Các công cụ sử dụng phát triển</a:t>
            </a:r>
            <a:endParaRPr lang="en-US" altLang="zh-CN" sz="28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223881"/>
            <a:ext cx="209550" cy="793257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3080385" y="2311400"/>
            <a:ext cx="6336030" cy="2825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Ide: Vscode</a:t>
            </a:r>
            <a:endParaRPr lang="en-US" altLang="en-US" sz="2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 ngữ: PHP, Javascript</a:t>
            </a:r>
            <a:endParaRPr lang="en-US" altLang="en-US" sz="2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  <a:endParaRPr lang="en-US" altLang="en-US" sz="2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Front-End: HTML, CSS Bootstrap</a:t>
            </a:r>
            <a:endParaRPr lang="en-US" altLang="en-US" sz="2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8213" r="4587" b="58075"/>
          <a:stretch>
            <a:fillRect/>
          </a:stretch>
        </p:blipFill>
        <p:spPr>
          <a:xfrm rot="5400000">
            <a:off x="-354860" y="1975811"/>
            <a:ext cx="6857999" cy="2906376"/>
          </a:xfrm>
          <a:custGeom>
            <a:avLst/>
            <a:gdLst>
              <a:gd name="connsiteX0" fmla="*/ 0 w 7141531"/>
              <a:gd name="connsiteY0" fmla="*/ 3026535 h 3026535"/>
              <a:gd name="connsiteX1" fmla="*/ 0 w 7141531"/>
              <a:gd name="connsiteY1" fmla="*/ 0 h 3026535"/>
              <a:gd name="connsiteX2" fmla="*/ 7141531 w 7141531"/>
              <a:gd name="connsiteY2" fmla="*/ 0 h 3026535"/>
              <a:gd name="connsiteX3" fmla="*/ 7141531 w 7141531"/>
              <a:gd name="connsiteY3" fmla="*/ 3026535 h 302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3026535">
                <a:moveTo>
                  <a:pt x="0" y="3026535"/>
                </a:moveTo>
                <a:lnTo>
                  <a:pt x="0" y="0"/>
                </a:lnTo>
                <a:lnTo>
                  <a:pt x="7141531" y="0"/>
                </a:lnTo>
                <a:lnTo>
                  <a:pt x="7141531" y="3026535"/>
                </a:lnTo>
                <a:close/>
              </a:path>
            </a:pathLst>
          </a:custGeom>
        </p:spPr>
      </p:pic>
      <p:sp>
        <p:nvSpPr>
          <p:cNvPr id="6" name="MH_Others_1"/>
          <p:cNvSpPr txBox="1"/>
          <p:nvPr>
            <p:custDataLst>
              <p:tags r:id="rId2"/>
            </p:custDataLst>
          </p:nvPr>
        </p:nvSpPr>
        <p:spPr>
          <a:xfrm>
            <a:off x="2032047" y="2955025"/>
            <a:ext cx="2083440" cy="5232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dist">
              <a:defRPr/>
            </a:pPr>
            <a:r>
              <a:rPr lang="en-US" altLang="zh-CN" sz="2400" spc="400" dirty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Lục</a:t>
            </a:r>
            <a:endParaRPr lang="zh-CN" altLang="en-US" sz="2400" spc="400" dirty="0">
              <a:solidFill>
                <a:srgbClr val="7BB6E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MH_Number_1"/>
          <p:cNvSpPr/>
          <p:nvPr>
            <p:custDataLst>
              <p:tags r:id="rId3"/>
            </p:custDataLst>
          </p:nvPr>
        </p:nvSpPr>
        <p:spPr>
          <a:xfrm>
            <a:off x="6188976" y="1931729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MH_Entry_1"/>
          <p:cNvSpPr/>
          <p:nvPr>
            <p:custDataLst>
              <p:tags r:id="rId4"/>
            </p:custDataLst>
          </p:nvPr>
        </p:nvSpPr>
        <p:spPr>
          <a:xfrm>
            <a:off x="6859526" y="1931729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/>
          </a:bodyPr>
          <a:lstStyle/>
          <a:p>
            <a:pPr algn="ctr"/>
            <a:r>
              <a:rPr lang="en-US" altLang="zh-CN" sz="2400" spc="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Mục Đích Phát triển Website</a:t>
            </a:r>
            <a:endParaRPr lang="en-US" altLang="zh-CN" sz="24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MH_Entry_2"/>
          <p:cNvSpPr/>
          <p:nvPr>
            <p:custDataLst>
              <p:tags r:id="rId5"/>
            </p:custDataLst>
          </p:nvPr>
        </p:nvSpPr>
        <p:spPr>
          <a:xfrm>
            <a:off x="6859526" y="2761330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16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Đối tượng khách hàng mục tiêu</a:t>
            </a:r>
            <a:endParaRPr lang="en-US" altLang="en-US" sz="16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MH_Number_2"/>
          <p:cNvSpPr/>
          <p:nvPr>
            <p:custDataLst>
              <p:tags r:id="rId6"/>
            </p:custDataLst>
          </p:nvPr>
        </p:nvSpPr>
        <p:spPr>
          <a:xfrm>
            <a:off x="6188976" y="2761330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MH_Number_1"/>
          <p:cNvSpPr/>
          <p:nvPr>
            <p:custDataLst>
              <p:tags r:id="rId7"/>
            </p:custDataLst>
          </p:nvPr>
        </p:nvSpPr>
        <p:spPr>
          <a:xfrm>
            <a:off x="6188976" y="3590931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MH_Entry_1"/>
          <p:cNvSpPr/>
          <p:nvPr>
            <p:custDataLst>
              <p:tags r:id="rId8"/>
            </p:custDataLst>
          </p:nvPr>
        </p:nvSpPr>
        <p:spPr>
          <a:xfrm>
            <a:off x="6859526" y="3590931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16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Các công cụ sử dụng phát triển </a:t>
            </a:r>
            <a:endParaRPr lang="en-US" altLang="en-US" sz="1600" spc="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MH_Entry_2"/>
          <p:cNvSpPr/>
          <p:nvPr>
            <p:custDataLst>
              <p:tags r:id="rId9"/>
            </p:custDataLst>
          </p:nvPr>
        </p:nvSpPr>
        <p:spPr>
          <a:xfrm>
            <a:off x="6859526" y="4420532"/>
            <a:ext cx="4027591" cy="498614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2400" spc="2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endParaRPr lang="en-US" altLang="zh-CN" sz="2400" spc="2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MH_Number_2"/>
          <p:cNvSpPr/>
          <p:nvPr>
            <p:custDataLst>
              <p:tags r:id="rId10"/>
            </p:custDataLst>
          </p:nvPr>
        </p:nvSpPr>
        <p:spPr>
          <a:xfrm>
            <a:off x="6188976" y="4420532"/>
            <a:ext cx="498951" cy="498614"/>
          </a:xfrm>
          <a:prstGeom prst="rect">
            <a:avLst/>
          </a:prstGeom>
          <a:solidFill>
            <a:srgbClr val="2A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800" b="1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2171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 rot="16200000">
            <a:off x="2099259" y="1841680"/>
            <a:ext cx="1904274" cy="2750717"/>
          </a:xfrm>
          <a:prstGeom prst="rect">
            <a:avLst/>
          </a:prstGeom>
          <a:noFill/>
          <a:ln>
            <a:solidFill>
              <a:srgbClr val="7BB6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矩形 149"/>
          <p:cNvSpPr/>
          <p:nvPr/>
        </p:nvSpPr>
        <p:spPr>
          <a:xfrm>
            <a:off x="145415" y="144780"/>
            <a:ext cx="11917045" cy="6559550"/>
          </a:xfrm>
          <a:prstGeom prst="rect">
            <a:avLst/>
          </a:prstGeom>
          <a:solidFill>
            <a:srgbClr val="2B353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62032" r="4587" b="4872"/>
          <a:stretch>
            <a:fillRect/>
          </a:stretch>
        </p:blipFill>
        <p:spPr>
          <a:xfrm rot="5400000">
            <a:off x="80357" y="1400722"/>
            <a:ext cx="6857999" cy="4056558"/>
          </a:xfrm>
          <a:custGeom>
            <a:avLst/>
            <a:gdLst>
              <a:gd name="connsiteX0" fmla="*/ 0 w 7141531"/>
              <a:gd name="connsiteY0" fmla="*/ 3168202 h 4224269"/>
              <a:gd name="connsiteX1" fmla="*/ 0 w 7141531"/>
              <a:gd name="connsiteY1" fmla="*/ 0 h 4224269"/>
              <a:gd name="connsiteX2" fmla="*/ 7141531 w 7141531"/>
              <a:gd name="connsiteY2" fmla="*/ 1056066 h 4224269"/>
              <a:gd name="connsiteX3" fmla="*/ 7141531 w 7141531"/>
              <a:gd name="connsiteY3" fmla="*/ 4224269 h 4224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531" h="4224269">
                <a:moveTo>
                  <a:pt x="0" y="3168202"/>
                </a:moveTo>
                <a:lnTo>
                  <a:pt x="0" y="0"/>
                </a:lnTo>
                <a:lnTo>
                  <a:pt x="7141531" y="1056066"/>
                </a:lnTo>
                <a:lnTo>
                  <a:pt x="7141531" y="4224269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2304625" y="1007538"/>
            <a:ext cx="2430780" cy="4507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7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en-US" altLang="zh-CN" sz="287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MH_Entry_1"/>
          <p:cNvSpPr/>
          <p:nvPr>
            <p:custDataLst>
              <p:tags r:id="rId2"/>
            </p:custDataLst>
          </p:nvPr>
        </p:nvSpPr>
        <p:spPr>
          <a:xfrm>
            <a:off x="5602025" y="2424775"/>
            <a:ext cx="5086582" cy="691915"/>
          </a:xfrm>
          <a:prstGeom prst="rect">
            <a:avLst/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en-US" sz="2000" spc="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Demo</a:t>
            </a:r>
            <a:endParaRPr lang="en-US" altLang="en-US" sz="2000" spc="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0" y="0"/>
            <a:ext cx="12192000" cy="6858001"/>
          </a:xfrm>
          <a:prstGeom prst="frame">
            <a:avLst>
              <a:gd name="adj1" fmla="val 5364"/>
            </a:avLst>
          </a:prstGeom>
          <a:solidFill>
            <a:srgbClr val="7BB6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6598" y="2540920"/>
            <a:ext cx="264287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2A42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Thanks</a:t>
            </a:r>
            <a:endParaRPr lang="en-US" altLang="zh-CN" sz="5400" b="1" dirty="0">
              <a:solidFill>
                <a:srgbClr val="2A42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0732" y="3429000"/>
            <a:ext cx="29946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" dirty="0" smtClean="0">
                <a:solidFill>
                  <a:srgbClr val="7BB6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THANK YOU FOR LISTENING</a:t>
            </a:r>
            <a:endParaRPr lang="en-US" altLang="zh-CN" sz="1600" dirty="0">
              <a:solidFill>
                <a:srgbClr val="7BB6E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794559" y="3429000"/>
            <a:ext cx="2646947" cy="0"/>
          </a:xfrm>
          <a:prstGeom prst="line">
            <a:avLst/>
          </a:prstGeom>
          <a:ln>
            <a:solidFill>
              <a:srgbClr val="2A42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546242" y="2459865"/>
            <a:ext cx="3094849" cy="1372084"/>
          </a:xfrm>
          <a:prstGeom prst="rect">
            <a:avLst/>
          </a:prstGeom>
          <a:noFill/>
          <a:ln>
            <a:solidFill>
              <a:srgbClr val="2A4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MH" val="20150516230504"/>
  <p:tag name="MH_LIBRARY" val="CONTENTS"/>
  <p:tag name="MH_TYPE" val="OTHERS"/>
  <p:tag name="ID" val="545812"/>
</p:tagLst>
</file>

<file path=ppt/tags/tag2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5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6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9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1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1.xml><?xml version="1.0" encoding="utf-8"?>
<p:tagLst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12.xml><?xml version="1.0" encoding="utf-8"?>
<p:tagLst xmlns:p="http://schemas.openxmlformats.org/presentationml/2006/main">
  <p:tag name="MH" val="20150516230504"/>
  <p:tag name="MH_LIBRARY" val="CONTENTS"/>
  <p:tag name="MH_TYPE" val="OTHERS"/>
  <p:tag name="ID" val="545812"/>
</p:tagLst>
</file>

<file path=ppt/tags/tag13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14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5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16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17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18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1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20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2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22.xml><?xml version="1.0" encoding="utf-8"?>
<p:tagLst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23.xml><?xml version="1.0" encoding="utf-8"?>
<p:tagLst xmlns:p="http://schemas.openxmlformats.org/presentationml/2006/main">
  <p:tag name="MH" val="20150516230504"/>
  <p:tag name="MH_LIBRARY" val="CONTENTS"/>
  <p:tag name="MH_TYPE" val="OTHERS"/>
  <p:tag name="ID" val="545812"/>
</p:tagLst>
</file>

<file path=ppt/tags/tag24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25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2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27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28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29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31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32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3.xml><?xml version="1.0" encoding="utf-8"?>
<p:tagLst xmlns:p="http://schemas.openxmlformats.org/presentationml/2006/main">
  <p:tag name="MH" val="20150429225421"/>
  <p:tag name="MH_LIBRARY" val="CONTENTS"/>
  <p:tag name="MH_AUTOCOLOR" val="TRUE"/>
  <p:tag name="MH_TYPE" val="CONTENTS"/>
  <p:tag name="ID" val="547142"/>
</p:tagLst>
</file>

<file path=ppt/tags/tag34.xml><?xml version="1.0" encoding="utf-8"?>
<p:tagLst xmlns:p="http://schemas.openxmlformats.org/presentationml/2006/main">
  <p:tag name="MH" val="20150516230504"/>
  <p:tag name="MH_LIBRARY" val="CONTENTS"/>
  <p:tag name="MH_TYPE" val="OTHERS"/>
  <p:tag name="ID" val="545812"/>
</p:tagLst>
</file>

<file path=ppt/tags/tag35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36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37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38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39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1"/>
</p:tagLst>
</file>

<file path=ppt/tags/tag40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ags/tag41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2"/>
</p:tagLst>
</file>

<file path=ppt/tags/tag42.xml><?xml version="1.0" encoding="utf-8"?>
<p:tagLst xmlns:p="http://schemas.openxmlformats.org/presentationml/2006/main">
  <p:tag name="MH" val="20150429225421"/>
  <p:tag name="MH_LIBRARY" val="CONTENTS"/>
  <p:tag name="MH_TYPE" val="NUMBER"/>
  <p:tag name="ID" val="547142"/>
  <p:tag name="MH_ORDER" val="2"/>
</p:tagLst>
</file>

<file path=ppt/tags/tag43.xml><?xml version="1.0" encoding="utf-8"?>
<p:tagLst xmlns:p="http://schemas.openxmlformats.org/presentationml/2006/main">
  <p:tag name="MH" val="20150429225421"/>
  <p:tag name="MH_LIBRARY" val="CONTENTS"/>
  <p:tag name="MH_TYPE" val="ENTRY"/>
  <p:tag name="ID" val="547142"/>
  <p:tag name="MH_ORDER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2582</Words>
  <Application>WPS Presentation</Application>
  <PresentationFormat>宽屏</PresentationFormat>
  <Paragraphs>122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Times New Roman</vt:lpstr>
      <vt:lpstr>Calibri</vt:lpstr>
      <vt:lpstr>Impact</vt:lpstr>
      <vt:lpstr>黑体</vt:lpstr>
      <vt:lpstr>华文细黑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xiaofan Zhou</dc:creator>
  <cp:lastModifiedBy>Thúy Huyền</cp:lastModifiedBy>
  <cp:revision>17</cp:revision>
  <dcterms:created xsi:type="dcterms:W3CDTF">2015-11-15T13:49:00Z</dcterms:created>
  <dcterms:modified xsi:type="dcterms:W3CDTF">2025-06-09T11:58:06Z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1033-12.2.0.21179</vt:lpwstr>
  </property>
  <property fmtid="{D5CDD505-2E9C-101B-9397-08002B2CF9AE}" pid="3" name="ICV">
    <vt:lpwstr>AAA93D14CF5B4A379428FF717FB2B034_13</vt:lpwstr>
  </property>
</Properties>
</file>